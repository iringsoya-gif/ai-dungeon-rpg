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9D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9D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5760720" cy="4663440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0" y="13716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9D7FE8"/>
                </a:solidFill>
              </a:rPr>
              <a:t>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E8E4F8"/>
                </a:solidFill>
              </a:rPr>
              <a:t>AI Dungeon RPG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56616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A84A8"/>
                </a:solidFill>
              </a:rPr>
              <a:t>AI 게임마스터가 이끄는 인터랙티브 웹소설 RPG 서비스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343400"/>
            <a:ext cx="1106424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45720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84A8"/>
                </a:solidFill>
              </a:rPr>
              <a:t>202212577  박성안  |  부산대학교  |  2026.04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502920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478"/>
                </a:solidFill>
              </a:rPr>
              <a:t>FastAPI  ·  React  ·  Groq LLaMA 3.3 70B  ·  SSE  ·  Vercel / Railway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9D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4F8"/>
                </a:solidFill>
              </a:rPr>
              <a:t>⚔  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84A8"/>
                </a:solidFill>
              </a:rPr>
              <a:t>10분 발표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27432"/>
          </a:xfrm>
          <a:prstGeom prst="rect">
            <a:avLst/>
          </a:prstGeom>
          <a:solidFill>
            <a:srgbClr val="9D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394960" cy="1005840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9D7FE8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4630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4F8"/>
                </a:solidFill>
              </a:rPr>
              <a:t>프로젝트 개요 및 동기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5394960" cy="1005840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4173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4630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4F8"/>
                </a:solidFill>
              </a:rPr>
              <a:t>시스템 아키텍처 &amp; 기술 스택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5394960" cy="1005840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06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9D7FE8"/>
                </a:solidFill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651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4F8"/>
                </a:solidFill>
              </a:rPr>
              <a:t>핵심 기술: AI GM · SSE · 컨텍스트 관리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560320"/>
            <a:ext cx="5394960" cy="1005840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606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651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4F8"/>
                </a:solidFill>
              </a:rPr>
              <a:t>주요 기능 소개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49039"/>
            <a:ext cx="5394960" cy="1005840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947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9D7FE8"/>
                </a:solidFill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840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4F8"/>
                </a:solidFill>
              </a:rPr>
              <a:t>수업 내용 활용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749039"/>
            <a:ext cx="5394960" cy="1005840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7947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3840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4F8"/>
                </a:solidFill>
              </a:rPr>
              <a:t>기존 AI 챗봇과의 비교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937760"/>
            <a:ext cx="5394960" cy="1005840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983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9D7FE8"/>
                </a:solidFill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029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4F8"/>
                </a:solidFill>
              </a:rPr>
              <a:t>기술적 도전과 해결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937760"/>
            <a:ext cx="5394960" cy="1005840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983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5029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4F8"/>
                </a:solidFill>
              </a:rPr>
              <a:t>결론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9D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4F8"/>
                </a:solidFill>
              </a:rPr>
              <a:t>⚔  프로젝트 개요 &amp; 동기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84A8"/>
                </a:solidFill>
              </a:rPr>
              <a:t>왜 만들었는가?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27432"/>
          </a:xfrm>
          <a:prstGeom prst="rect">
            <a:avLst/>
          </a:prstGeom>
          <a:solidFill>
            <a:srgbClr val="9D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1">
                <a:solidFill>
                  <a:srgbClr val="C9A84C"/>
                </a:solidFill>
              </a:rPr>
              <a:t>"AI와 사람이 함께 만드는 이야기"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5303520" cy="2286000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0574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D7FE8"/>
                </a:solidFill>
              </a:rPr>
              <a:t>🎯  무엇을 만들었나?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395728"/>
            <a:ext cx="50292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AI 게임마스터(GM)가 실시간으로 서사를 생성하는 RPG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플레이어의 행동·대사에 반응하는 인터랙티브 스토리텔링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완전 배포된 웹 서비스 (실제 접속 가능)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920240"/>
            <a:ext cx="5760720" cy="2286000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08192" y="20574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D7FE8"/>
                </a:solidFill>
              </a:rPr>
              <a:t>💡  만든 이유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8192" y="2395728"/>
            <a:ext cx="54864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ChatGPT로 RPG를 해보면 매번 상태를 다시 설명해야 함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캐릭터 HP, 인벤토리가 자동 추적되지 않음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"AI가 진짜 GM 역할을 할 수 있을까?" 라는 호기심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수업에서 배운 API/웹개발 기술을 종합 활용하는 프로젝트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D7FE8"/>
                </a:solidFill>
              </a:rPr>
              <a:t>🌐  실제 서비스: https://ai-dungeon-rpg.vercel.app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9D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4F8"/>
                </a:solidFill>
              </a:rPr>
              <a:t>⚔  시스템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84A8"/>
                </a:solidFill>
              </a:rPr>
              <a:t>전체 기술 스택 한눈에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27432"/>
          </a:xfrm>
          <a:prstGeom prst="rect">
            <a:avLst/>
          </a:prstGeom>
          <a:solidFill>
            <a:srgbClr val="9D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66160" cy="5120640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566160" cy="457200"/>
          </a:xfrm>
          <a:prstGeom prst="rect">
            <a:avLst/>
          </a:prstGeom>
          <a:solidFill>
            <a:srgbClr val="9D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A10"/>
                </a:solidFill>
              </a:rPr>
              <a:t>Frontend
(Vercel)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96596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4F8"/>
                </a:solidFill>
              </a:rPr>
              <a:t>▸  React 18 + 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715768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4F8"/>
                </a:solidFill>
              </a:rPr>
              <a:t>▸  Tailwind 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465576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4F8"/>
                </a:solidFill>
              </a:rPr>
              <a:t>▸  Zustand (상태관리)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215383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4F8"/>
                </a:solidFill>
              </a:rPr>
              <a:t>▸  SSE 실시간 스트리밍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965192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4F8"/>
                </a:solidFill>
              </a:rPr>
              <a:t>▸  Web Audio API BGM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571500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4F8"/>
                </a:solidFill>
              </a:rPr>
              <a:t>▸  React Router v6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1371600"/>
            <a:ext cx="3566160" cy="5120640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1371600"/>
            <a:ext cx="3566160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1389888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A10"/>
                </a:solidFill>
              </a:rPr>
              <a:t>Backend
(Railway)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196596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4F8"/>
                </a:solidFill>
              </a:rPr>
              <a:t>▸  FastAPI (Python)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715768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4F8"/>
                </a:solidFill>
              </a:rPr>
              <a:t>▸  SQLAlchemy 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3465576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4F8"/>
                </a:solidFill>
              </a:rPr>
              <a:t>▸  SQLite 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4215383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4F8"/>
                </a:solidFill>
              </a:rPr>
              <a:t>▸  JWT + Google OAuth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4965192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4F8"/>
                </a:solidFill>
              </a:rPr>
              <a:t>▸  Polar.sh 결제 연동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571500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4F8"/>
                </a:solidFill>
              </a:rPr>
              <a:t>▸  Docker 컨테이너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1371600"/>
            <a:ext cx="3566160" cy="5120640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21040" y="1371600"/>
            <a:ext cx="356616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1389888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A10"/>
                </a:solidFill>
              </a:rPr>
              <a:t>AI / 외부 서비스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5632" y="196596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4F8"/>
                </a:solidFill>
              </a:rPr>
              <a:t>▸  Groq API (무료 티어)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5632" y="2715768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4F8"/>
                </a:solidFill>
              </a:rPr>
              <a:t>▸  LLaMA 3.3 70B — GM 서사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85632" y="3465576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4F8"/>
                </a:solidFill>
              </a:rPr>
              <a:t>▸  LLaMA 3.3 70B — 오프닝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85632" y="4215383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4F8"/>
                </a:solidFill>
              </a:rPr>
              <a:t>▸  Google OAuth 2.0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85632" y="4965192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4F8"/>
                </a:solidFill>
              </a:rPr>
              <a:t>▸  Polar.sh (결제·플랜 동기화)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85632" y="571500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4F8"/>
                </a:solidFill>
              </a:rPr>
              <a:t>▸  Vercel + Railway 자동 배포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9080" y="3749039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8A84A8"/>
                </a:solidFill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3749039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8A84A8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9D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4F8"/>
                </a:solidFill>
              </a:rPr>
              <a:t>⚔  핵심 기술 ①: AI 게임마스터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84A8"/>
                </a:solidFill>
              </a:rPr>
              <a:t>LLM을 GM으로 활용하는 방법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27432"/>
          </a:xfrm>
          <a:prstGeom prst="rect">
            <a:avLst/>
          </a:prstGeom>
          <a:solidFill>
            <a:srgbClr val="9D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577840" cy="5120640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5087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D7FE8"/>
                </a:solidFill>
              </a:rPr>
              <a:t>🤖  AI GM 동작 원리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847088"/>
            <a:ext cx="5303520" cy="4526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Groq API로 LLaMA 3.3 70B 모델 호출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시스템 프롬프트 = GM의 '인격'과 '규칙서'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  • 세계관 설명 동적 삽입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  • 현재 캐릭터 JSON 전달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  • 한국 웹소설 문체 지시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  • 장면 연속성 &amp; 언어 규칙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응답 마지막에 JSON 블록 포함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  → 상태 변화를 구조적으로 추출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512064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D7FE8"/>
                </a:solidFill>
              </a:rPr>
              <a:t>GM 응답 형식 (구조화된 출력)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874519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{
  "state_changes": {
    "hp_change": -15,
    "xp_gain": 30,
    "inventory_add": ["낡은 단검"],
    "quest_add": ["어둠의 마법사 처치"],
    "location": "어두운 지하 감옥",
    "in_battle": true
  },
  "game_over": false
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9D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4F8"/>
                </a:solidFill>
              </a:rPr>
              <a:t>⚔  핵심 기술 ②: 실시간 스트리밍 (SSE)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84A8"/>
                </a:solidFill>
              </a:rPr>
              <a:t>ChatGPT처럼 타이핑되며 나타나는 서술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27432"/>
          </a:xfrm>
          <a:prstGeom prst="rect">
            <a:avLst/>
          </a:prstGeom>
          <a:solidFill>
            <a:srgbClr val="9D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011680" cy="1188720"/>
          </a:xfrm>
          <a:prstGeom prst="rect">
            <a:avLst/>
          </a:prstGeom>
          <a:solidFill>
            <a:srgbClr val="9D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508760"/>
            <a:ext cx="18745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10"/>
                </a:solidFill>
              </a:rPr>
              <a:t>① 플레이어
행동 입력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5728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84A8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79" y="1417320"/>
            <a:ext cx="2011680" cy="1188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70632" y="1508760"/>
            <a:ext cx="18745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10"/>
                </a:solidFill>
              </a:rPr>
              <a:t>② FastAPI
SSE 응답 시작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84A8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417320"/>
            <a:ext cx="2011680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02352" y="1508760"/>
            <a:ext cx="18745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10"/>
                </a:solidFill>
              </a:rPr>
              <a:t>③ Groq API
스트리밍 청크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9168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84A8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19" y="1417320"/>
            <a:ext cx="2011680" cy="1188720"/>
          </a:xfrm>
          <a:prstGeom prst="rect">
            <a:avLst/>
          </a:prstGeom>
          <a:solidFill>
            <a:srgbClr val="9D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34071" y="1508760"/>
            <a:ext cx="18745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10"/>
                </a:solidFill>
              </a:rPr>
              <a:t>④ 화면에
실시간 표시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0888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84A8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92640" y="1417320"/>
            <a:ext cx="2011680" cy="1188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65792" y="1508760"/>
            <a:ext cx="18745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10"/>
                </a:solidFill>
              </a:rPr>
              <a:t>⑤ 완료 시
상태 자동 반영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834640"/>
            <a:ext cx="5303520" cy="3383280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29718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D7FE8"/>
                </a:solidFill>
              </a:rPr>
              <a:t>📡  SSE 구현 포인트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3310128"/>
            <a:ext cx="50292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FastAPI StreamingResponse + async generator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이벤트: text | done | error 세 종류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'done' 이벤트에 상태 변화 JSON 포함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프론트: EventSource 대신 fetch + ReadableStream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스트리밍 중 JSON 블록은 화면에서 숨김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2834640"/>
            <a:ext cx="5760720" cy="3383280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08192" y="29718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D7FE8"/>
                </a:solidFill>
              </a:rPr>
              <a:t>⚙️  컨텍스트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08192" y="3310128"/>
            <a:ext cx="54864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8,000 토큰 초과 시 자동 압축 (요약 생성)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최근 10턴만 유지 + 이전 요약 prepend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오프닝 장면은 [게임 시작] 마커로 보존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캐릭터 JSON은 매 턴 시스템 프롬프트에 갱신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→ 장기 플레이도 맥락 유지 가능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9D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4F8"/>
                </a:solidFill>
              </a:rPr>
              <a:t>⚔  주요 기능 ①: 세계관 &amp; 캐릭터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84A8"/>
                </a:solidFill>
              </a:rPr>
              <a:t>나만의 RPG 세계 구축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27432"/>
          </a:xfrm>
          <a:prstGeom prst="rect">
            <a:avLst/>
          </a:prstGeom>
          <a:solidFill>
            <a:srgbClr val="9D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66160" cy="5120640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5087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D7FE8"/>
                </a:solidFill>
              </a:rPr>
              <a:t>🌍  세계관 템플릿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847088"/>
            <a:ext cx="3291840" cy="4526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판타지 — 검과 마법의 세계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SF — 우주·사이버펑크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공포 — 공포·오컬트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현대 — 현대 도시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커스텀 — 자유 입력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→ 선택한 장르에 따라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  직업 목록이 자동 변경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371600"/>
            <a:ext cx="3749039" cy="5120640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0831" y="15087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D7FE8"/>
                </a:solidFill>
              </a:rPr>
              <a:t>👤  캐릭터 시스템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1" y="1847088"/>
            <a:ext cx="3474720" cy="4526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20개 프리셋 직업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(판타지·SF·공포·현대 각 5종)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커스텀 직업 직접 입력 가능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스탯: HP · MP · STR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        INT · AGI · CHA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레벨업 시 전체 스탯 자동 증가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XP 요구량 ×1.5 증가 (누적)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371600"/>
            <a:ext cx="3566160" cy="5120640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5087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D7FE8"/>
                </a:solidFill>
              </a:rPr>
              <a:t>⚔  게임 시스템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847088"/>
            <a:ext cx="3291840" cy="4526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인벤토리 자동 추가·제거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퀘스트 추가·완료 추적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상태 이상 효과 시스템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전투 / 탐험 상태 전환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하드코어 모드 (영구 사망)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일반 모드: 사망 시 패널티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  → HP ½ 회복, 아이템 1개 손실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게임 종료 통계 화면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9D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4F8"/>
                </a:solidFill>
              </a:rPr>
              <a:t>⚔  주요 기능 ②: UI/UX &amp; 부가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84A8"/>
                </a:solidFill>
              </a:rPr>
              <a:t>사용자 경험 설계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27432"/>
          </a:xfrm>
          <a:prstGeom prst="rect">
            <a:avLst/>
          </a:prstGeom>
          <a:solidFill>
            <a:srgbClr val="9D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394960" cy="3200400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5087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D7FE8"/>
                </a:solidFill>
              </a:rPr>
              <a:t>🎨  UI/UX 디자인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847088"/>
            <a:ext cx="51206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다크 판타지 테마 (caveduck.io 참조)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**행동** 형식으로 행동·대사 구분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GM 서술에서 JSON 자동 숨김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실시간 스트리밍 커서 애니메이션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사이드패널: HP/MP/XP 바, 인벤토리, 퀘스트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캐릭터 시트 팝업 모달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모바일 대응 반응형 레이아웃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371600"/>
            <a:ext cx="5669280" cy="3200400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15087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D7FE8"/>
                </a:solidFill>
              </a:rPr>
              <a:t>🎵  Web Audio API BGM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9631" y="1847088"/>
            <a:ext cx="53949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외부 음원 없이 브라우저 내에서 생성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탐험 모드: A단조 앰비언트 드론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전투 모드: E단조, 더 높고 긴박하게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게임오버: D단조, 낮고 무겁게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모드 전환 시 1.5초 페이드 크로스페이드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♪/♩ 버튼으로 ON/OFF, localStorage 저장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754880"/>
            <a:ext cx="5394960" cy="1920240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48920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D7FE8"/>
                </a:solidFill>
              </a:rPr>
              <a:t>🔐  인증 &amp; 결제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5230368"/>
            <a:ext cx="5120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Google OAuth 2.0 소셜 로그인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JWT 토큰 기반 세션 관리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Polar.sh 결제 (무료/영웅 플랜)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4754880"/>
            <a:ext cx="5669280" cy="1920240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1" y="48920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D7FE8"/>
                </a:solidFill>
              </a:rPr>
              <a:t>☁️  배포 &amp; 운영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1" y="5230368"/>
            <a:ext cx="5394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Frontend: Vercel (GitHub push → 자동 배포)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Backend: Railway (Docker 컨테이너)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4F8"/>
                </a:solidFill>
              </a:rPr>
              <a:t>  • GitHub main 브랜치 푸시 → 즉시 반영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9D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4F8"/>
                </a:solidFill>
              </a:rPr>
              <a:t>⚔  수업 내용 활용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84A8"/>
                </a:solidFill>
              </a:rPr>
              <a:t>AI·ML 과목에서 배운 것들을 어떻게 썼나?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27432"/>
          </a:xfrm>
          <a:prstGeom prst="rect">
            <a:avLst/>
          </a:prstGeom>
          <a:solidFill>
            <a:srgbClr val="9D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00" cy="2468880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00" cy="384048"/>
          </a:xfrm>
          <a:prstGeom prst="rect">
            <a:avLst/>
          </a:prstGeom>
          <a:solidFill>
            <a:srgbClr val="9D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8132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A10"/>
                </a:solidFill>
              </a:rPr>
              <a:t>LLM &amp; 프롬프트 엔지니어링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E8E4F8"/>
                </a:solidFill>
              </a:rPr>
              <a:t>  → LLM의 토큰 기반 생성 원리 이해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8E4F8"/>
                </a:solidFill>
              </a:rPr>
              <a:t>  → 시스템 프롬프트로 모델 행동 제어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8E4F8"/>
                </a:solidFill>
              </a:rPr>
              <a:t>  → 출력 형식 구조화 (JSON 강제)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8E4F8"/>
                </a:solidFill>
              </a:rPr>
              <a:t>  → Few-shot: 좋은 예/나쁜 예 제시로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8E4F8"/>
                </a:solidFill>
              </a:rPr>
              <a:t>     문체 학습 유도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5486400" cy="2468880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5486400" cy="3840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48132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A10"/>
                </a:solidFill>
              </a:rPr>
              <a:t>API &amp; 비동기 처리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74519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E8E4F8"/>
                </a:solidFill>
              </a:rPr>
              <a:t>  → REST API 설계와 HTTP 메서드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8E4F8"/>
                </a:solidFill>
              </a:rPr>
              <a:t>  → async/await &amp; SSE 스트리밍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8E4F8"/>
                </a:solidFill>
              </a:rPr>
              <a:t>  → FastAPI를 Week5에서 직접 실습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8E4F8"/>
                </a:solidFill>
              </a:rPr>
              <a:t>  → API 키 관리 및 환경변수 운영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8E4F8"/>
                </a:solidFill>
              </a:rPr>
              <a:t>  → Groq 무료 API로 비용 없이 구현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69080"/>
            <a:ext cx="5486400" cy="2468880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069080"/>
            <a:ext cx="548640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133087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A10"/>
                </a:solidFill>
              </a:rPr>
              <a:t>데이터 구조 &amp; 상태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26279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E8E4F8"/>
                </a:solidFill>
              </a:rPr>
              <a:t>  → 캐릭터 상태를 JSON으로 직렬화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8E4F8"/>
                </a:solidFill>
              </a:rPr>
              <a:t>  → SQLite: 관계형 DB 스키마 설계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8E4F8"/>
                </a:solidFill>
              </a:rPr>
              <a:t>  → 컨텍스트 윈도우 = 일종의 슬라이딩 윈도우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8E4F8"/>
                </a:solidFill>
              </a:rPr>
              <a:t>  → 토큰 수 추정 (len/4 근사)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8E4F8"/>
                </a:solidFill>
              </a:rPr>
              <a:t>  → 자동 요약으로 정보 압축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069080"/>
            <a:ext cx="5486400" cy="2468880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4069080"/>
            <a:ext cx="5486400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133087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A10"/>
                </a:solidFill>
              </a:rPr>
              <a:t>웹소설 스타일 프롬프트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526279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E8E4F8"/>
                </a:solidFill>
              </a:rPr>
              <a:t>  → NLP: 텍스트 생성 방향 제어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8E4F8"/>
                </a:solidFill>
              </a:rPr>
              <a:t>  → 문체 transfer를 프롬프트로 구현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8E4F8"/>
                </a:solidFill>
              </a:rPr>
              <a:t>  → Bad example / Good example 기법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8E4F8"/>
                </a:solidFill>
              </a:rPr>
              <a:t>  → 언어 규칙 명시 (한국어 전용)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8E4F8"/>
                </a:solidFill>
              </a:rPr>
              <a:t>  → 장면 연속성 제약 조건 설계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9D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4F8"/>
                </a:solidFill>
              </a:rPr>
              <a:t>⚔  기존 AI 챗봇과의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84A8"/>
                </a:solidFill>
              </a:rPr>
              <a:t>ChatGPT로 RPG를 하면 생기는 문제들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27432"/>
          </a:xfrm>
          <a:prstGeom prst="rect">
            <a:avLst/>
          </a:prstGeom>
          <a:solidFill>
            <a:srgbClr val="9D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4389120" cy="50292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37760" y="1371600"/>
            <a:ext cx="3291840" cy="502920"/>
          </a:xfrm>
          <a:prstGeom prst="rect">
            <a:avLst/>
          </a:prstGeom>
          <a:solidFill>
            <a:srgbClr val="3A2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21040" y="1371600"/>
            <a:ext cx="3383280" cy="502920"/>
          </a:xfrm>
          <a:prstGeom prst="rect">
            <a:avLst/>
          </a:prstGeom>
          <a:solidFill>
            <a:srgbClr val="9D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A84A8"/>
                </a:solidFill>
              </a:rPr>
              <a:t>비교 항목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4173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84C"/>
                </a:solidFill>
              </a:rPr>
              <a:t>ChatGPT / Claude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417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10"/>
                </a:solidFill>
              </a:rPr>
              <a:t>AI Dungeon RPG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65960"/>
            <a:ext cx="4389120" cy="530352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37760" y="1965960"/>
            <a:ext cx="3291840" cy="530352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965960"/>
            <a:ext cx="3383280" cy="530352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039112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F8"/>
                </a:solidFill>
              </a:rPr>
              <a:t>캐릭터 상태 추적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03911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8844"/>
                </a:solidFill>
              </a:rPr>
              <a:t>△  매번 직접 설명해야 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0391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✓  자동 저장 &amp; 실시간 갱신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532888"/>
            <a:ext cx="4389120" cy="530352"/>
          </a:xfrm>
          <a:prstGeom prst="rect">
            <a:avLst/>
          </a:prstGeom>
          <a:solidFill>
            <a:srgbClr val="0E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37760" y="2532888"/>
            <a:ext cx="3291840" cy="530352"/>
          </a:xfrm>
          <a:prstGeom prst="rect">
            <a:avLst/>
          </a:prstGeom>
          <a:solidFill>
            <a:srgbClr val="0E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0" y="2532888"/>
            <a:ext cx="3383280" cy="530352"/>
          </a:xfrm>
          <a:prstGeom prst="rect">
            <a:avLst/>
          </a:prstGeom>
          <a:solidFill>
            <a:srgbClr val="0E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60604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F8"/>
                </a:solidFill>
              </a:rPr>
              <a:t>HP/MP/XP 관리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6060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8844"/>
                </a:solidFill>
              </a:rPr>
              <a:t>△  직접 계산해야 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606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✓  자동 계산 &amp; 레벨업 처리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099815"/>
            <a:ext cx="4389120" cy="530352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37760" y="3099815"/>
            <a:ext cx="3291840" cy="530352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21040" y="3099815"/>
            <a:ext cx="3383280" cy="530352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17296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F8"/>
                </a:solidFill>
              </a:rPr>
              <a:t>장기 플레이 맥락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1729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8844"/>
                </a:solidFill>
              </a:rPr>
              <a:t>△  컨텍스트 초과 시 망각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17296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✓  자동 요약 압축으로 유지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666744"/>
            <a:ext cx="4389120" cy="530352"/>
          </a:xfrm>
          <a:prstGeom prst="rect">
            <a:avLst/>
          </a:prstGeom>
          <a:solidFill>
            <a:srgbClr val="0E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937760" y="3666744"/>
            <a:ext cx="3291840" cy="530352"/>
          </a:xfrm>
          <a:prstGeom prst="rect">
            <a:avLst/>
          </a:prstGeom>
          <a:solidFill>
            <a:srgbClr val="0E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21040" y="3666744"/>
            <a:ext cx="3383280" cy="530352"/>
          </a:xfrm>
          <a:prstGeom prst="rect">
            <a:avLst/>
          </a:prstGeom>
          <a:solidFill>
            <a:srgbClr val="0E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739896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F8"/>
                </a:solidFill>
              </a:rPr>
              <a:t>게임 진행 저장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37398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8844"/>
                </a:solidFill>
              </a:rPr>
              <a:t>△  브라우저 새로고침 시 초기화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73989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✓  DB 영구 저장, 언제든 재접속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233672"/>
            <a:ext cx="4389120" cy="530352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37760" y="4233672"/>
            <a:ext cx="3291840" cy="530352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21040" y="4233672"/>
            <a:ext cx="3383280" cy="530352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4306824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F8"/>
                </a:solidFill>
              </a:rPr>
              <a:t>하드코어 모드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4306824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8844"/>
                </a:solidFill>
              </a:rPr>
              <a:t>△  직접 규칙 설정 필요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30682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✓  시스템 수준 보장 (서버 처리)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800600"/>
            <a:ext cx="4389120" cy="530352"/>
          </a:xfrm>
          <a:prstGeom prst="rect">
            <a:avLst/>
          </a:prstGeom>
          <a:solidFill>
            <a:srgbClr val="0E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937760" y="4800600"/>
            <a:ext cx="3291840" cy="530352"/>
          </a:xfrm>
          <a:prstGeom prst="rect">
            <a:avLst/>
          </a:prstGeom>
          <a:solidFill>
            <a:srgbClr val="0E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321040" y="4800600"/>
            <a:ext cx="3383280" cy="530352"/>
          </a:xfrm>
          <a:prstGeom prst="rect">
            <a:avLst/>
          </a:prstGeom>
          <a:solidFill>
            <a:srgbClr val="0E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4873752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F8"/>
                </a:solidFill>
              </a:rPr>
              <a:t>실시간 서사 스트리밍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0" y="487375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4A8"/>
                </a:solidFill>
              </a:rPr>
              <a:t>△  기본 지원 (UI 있음)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48737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✓  커스텀 SSE 구현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367527"/>
            <a:ext cx="4389120" cy="530352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37760" y="5367527"/>
            <a:ext cx="3291840" cy="530352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321040" y="5367527"/>
            <a:ext cx="3383280" cy="530352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" y="5440679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F8"/>
                </a:solidFill>
              </a:rPr>
              <a:t>한국 웹소설 문체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0" y="5440679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8844"/>
                </a:solidFill>
              </a:rPr>
              <a:t>△  일반적 문어체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544067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✓  전용 프롬프트 + Few-shot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934456"/>
            <a:ext cx="4389120" cy="530352"/>
          </a:xfrm>
          <a:prstGeom prst="rect">
            <a:avLst/>
          </a:prstGeom>
          <a:solidFill>
            <a:srgbClr val="0E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37760" y="5934456"/>
            <a:ext cx="3291840" cy="530352"/>
          </a:xfrm>
          <a:prstGeom prst="rect">
            <a:avLst/>
          </a:prstGeom>
          <a:solidFill>
            <a:srgbClr val="0E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321040" y="5934456"/>
            <a:ext cx="3383280" cy="530352"/>
          </a:xfrm>
          <a:prstGeom prst="rect">
            <a:avLst/>
          </a:prstGeom>
          <a:solidFill>
            <a:srgbClr val="0E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60" y="600760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4F8"/>
                </a:solidFill>
              </a:rPr>
              <a:t>장면 반응 BGM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0" y="600760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8844"/>
                </a:solidFill>
              </a:rPr>
              <a:t>△  없음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12480" y="60076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✓  Web Audio API 앰비언트 생성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9D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4F8"/>
                </a:solidFill>
              </a:rPr>
              <a:t>⚔  기술적 도전과 해결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84A8"/>
                </a:solidFill>
              </a:rPr>
              <a:t>만들면서 만난 문제들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27432"/>
          </a:xfrm>
          <a:prstGeom prst="rect">
            <a:avLst/>
          </a:prstGeom>
          <a:solidFill>
            <a:srgbClr val="9D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566160" cy="2468880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566160" cy="347472"/>
          </a:xfrm>
          <a:prstGeom prst="rect">
            <a:avLst/>
          </a:prstGeom>
          <a:solidFill>
            <a:srgbClr val="9D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463040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A10"/>
                </a:solidFill>
              </a:rPr>
              <a:t>🔇  GM이 응답 없이 침묵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847088"/>
            <a:ext cx="3383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8844"/>
                </a:solidFill>
              </a:rPr>
              <a:t>문제: 동기 Anthropic 클라이언트가
비동기 이벤트 루프 블로킹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79192"/>
            <a:ext cx="3383280" cy="18288"/>
          </a:xfrm>
          <a:prstGeom prst="rect">
            <a:avLst/>
          </a:prstGeom>
          <a:solidFill>
            <a:srgbClr val="8A8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724912"/>
            <a:ext cx="33832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해결: AsyncGroq + 메시지 배열
user 첫 항목 조건 강제 적용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417320"/>
            <a:ext cx="3566160" cy="2468880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417320"/>
            <a:ext cx="3566160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1463040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A10"/>
                </a:solidFill>
              </a:rPr>
              <a:t>🌐  API 비용 문제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1847088"/>
            <a:ext cx="3383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8844"/>
                </a:solidFill>
              </a:rPr>
              <a:t>문제: Anthropic API 크레딧 소진
무료로 계속 개발 불가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2679192"/>
            <a:ext cx="3383280" cy="18288"/>
          </a:xfrm>
          <a:prstGeom prst="rect">
            <a:avLst/>
          </a:prstGeom>
          <a:solidFill>
            <a:srgbClr val="8A8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7408" y="2724912"/>
            <a:ext cx="33832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해결: Groq API (무료 티어) 전환
LLaMA 3.3 70B 무료 사용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417320"/>
            <a:ext cx="3566160" cy="2468880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417320"/>
            <a:ext cx="356616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7" y="1463040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A10"/>
                </a:solidFill>
              </a:rPr>
              <a:t>🇯🇵  일본어 한자 혼입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1847088"/>
            <a:ext cx="3383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8844"/>
                </a:solidFill>
              </a:rPr>
              <a:t>문제: 모델이 한국어 서술 중
漢字·日本語를 섞어 출력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2679192"/>
            <a:ext cx="3383280" cy="18288"/>
          </a:xfrm>
          <a:prstGeom prst="rect">
            <a:avLst/>
          </a:prstGeom>
          <a:solidFill>
            <a:srgbClr val="8A8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2724912"/>
            <a:ext cx="33832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해결: 프롬프트 최상단에 언어 규칙 +
잘못된 예시 직접 명시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069080"/>
            <a:ext cx="3566160" cy="2468880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069080"/>
            <a:ext cx="356616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4114800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A10"/>
                </a:solidFill>
              </a:rPr>
              <a:t>📍  장면 연속성 단절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" y="4498848"/>
            <a:ext cx="3383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8844"/>
                </a:solidFill>
              </a:rPr>
              <a:t>문제: 오프닝 장면이 context_manager에서
삭제되어 모델에 전달 안 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330952"/>
            <a:ext cx="3383280" cy="18288"/>
          </a:xfrm>
          <a:prstGeom prst="rect">
            <a:avLst/>
          </a:prstGeom>
          <a:solidFill>
            <a:srgbClr val="8A8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5376672"/>
            <a:ext cx="33832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해결: assistant 메시지 삭제 →
[게임 시작] 마커 삽입으로 대체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4069080"/>
            <a:ext cx="3566160" cy="2468880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80" y="4069080"/>
            <a:ext cx="3566160" cy="347472"/>
          </a:xfrm>
          <a:prstGeom prst="rect">
            <a:avLst/>
          </a:prstGeom>
          <a:solidFill>
            <a:srgbClr val="9D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07408" y="4114800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A10"/>
                </a:solidFill>
              </a:rPr>
              <a:t>📝  오프닝 서술 품질 저하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7408" y="4498848"/>
            <a:ext cx="3383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8844"/>
                </a:solidFill>
              </a:rPr>
              <a:t>문제: 8B 모델: 시점 혼용(나/크루/당신),
직업 무시, 첫 장면부터 사건 폭발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5330952"/>
            <a:ext cx="3383280" cy="18288"/>
          </a:xfrm>
          <a:prstGeom prst="rect">
            <a:avLst/>
          </a:prstGeom>
          <a:solidFill>
            <a:srgbClr val="8A8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07408" y="5376672"/>
            <a:ext cx="33832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해결: 70B 모델 전환 + 프롬프트에
3단계 구성·2인칭 규칙·직업 힌트 명시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4069080"/>
            <a:ext cx="3566160" cy="2468880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4069080"/>
            <a:ext cx="3566160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4114800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A10"/>
                </a:solidFill>
              </a:rPr>
              <a:t>💳  결제 후 플랜 미반영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4498848"/>
            <a:ext cx="3383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8844"/>
                </a:solidFill>
              </a:rPr>
              <a:t>문제: Webhook 미도달 시 DB 업데이트
안 됨 → 플랜 여전히 free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1040" y="5330952"/>
            <a:ext cx="3383280" cy="18288"/>
          </a:xfrm>
          <a:prstGeom prst="rect">
            <a:avLst/>
          </a:prstGeom>
          <a:solidFill>
            <a:srgbClr val="8A8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9327" y="5376672"/>
            <a:ext cx="33832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해결: 성공 페이지에서 checkout_id 검증
+ 대시보드 플랜 동기화 버튼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9D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9D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0" y="731520"/>
            <a:ext cx="118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9D7FE8"/>
                </a:solidFill>
              </a:rPr>
              <a:t>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64592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8E4F8"/>
                </a:solidFill>
              </a:rPr>
              <a:t>결론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514600"/>
            <a:ext cx="1106424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2743200"/>
            <a:ext cx="9418320" cy="594360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280720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D7FE8"/>
                </a:solidFill>
              </a:rP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2807208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4F8"/>
                </a:solidFill>
              </a:rPr>
              <a:t>LLM API + 웹 기술을 조합해 실제 서비스를 처음부터 끝까지 구현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456432"/>
            <a:ext cx="9418320" cy="594360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3520439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D7FE8"/>
                </a:solidFill>
              </a:rPr>
              <a:t>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520439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4F8"/>
                </a:solidFill>
              </a:rPr>
              <a:t>프롬프트 엔지니어링이 AI 출력 품질을 결정적으로 좌우함을 직접 경험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4169664"/>
            <a:ext cx="9418320" cy="594360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423367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D7FE8"/>
                </a:solidFill>
              </a:rPr>
              <a:t>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4233672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4F8"/>
                </a:solidFill>
              </a:rPr>
              <a:t>ChatGPT와의 차별점: 지속 상태·자동 추적·장면 반응 BGM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882896"/>
            <a:ext cx="9418320" cy="594360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494690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D7FE8"/>
                </a:solidFill>
              </a:rPr>
              <a:t>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4946904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4F8"/>
                </a:solidFill>
              </a:rPr>
              <a:t>기술적 문제(언어 혼입, 장면 단절)를 반복 실험으로 해결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5596128"/>
            <a:ext cx="9418320" cy="594360"/>
          </a:xfrm>
          <a:prstGeom prst="rect">
            <a:avLst/>
          </a:prstGeom>
          <a:solidFill>
            <a:srgbClr val="1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08760" y="5660136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D7FE8"/>
                </a:solidFill>
              </a:rPr>
              <a:t>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5660136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4F8"/>
                </a:solidFill>
              </a:rPr>
              <a:t>배포까지 완성 → 실제 접속 가능한 서비스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640080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84C"/>
                </a:solidFill>
              </a:rPr>
              <a:t>🌐  https://ai-dungeon-rpg.vercel.app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8521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D7FE8"/>
                </a:solidFill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